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64" r:id="rId5"/>
    <p:sldId id="287" r:id="rId6"/>
    <p:sldId id="263" r:id="rId7"/>
    <p:sldId id="289" r:id="rId8"/>
    <p:sldId id="259" r:id="rId9"/>
    <p:sldId id="325" r:id="rId10"/>
    <p:sldId id="290" r:id="rId11"/>
    <p:sldId id="326" r:id="rId12"/>
    <p:sldId id="327" r:id="rId13"/>
    <p:sldId id="315" r:id="rId14"/>
    <p:sldId id="328" r:id="rId15"/>
    <p:sldId id="316" r:id="rId16"/>
    <p:sldId id="317" r:id="rId17"/>
    <p:sldId id="329" r:id="rId18"/>
    <p:sldId id="330" r:id="rId19"/>
    <p:sldId id="306" r:id="rId20"/>
    <p:sldId id="275" r:id="rId21"/>
    <p:sldId id="273" r:id="rId22"/>
  </p:sldIdLst>
  <p:sldSz cx="9144000" cy="5143500" type="screen16x9"/>
  <p:notesSz cx="6858000" cy="9144000"/>
  <p:embeddedFontLst>
    <p:embeddedFont>
      <p:font typeface="Bebas Neue" panose="020B0604020202020204" charset="0"/>
      <p:regular r:id="rId24"/>
    </p:embeddedFont>
    <p:embeddedFont>
      <p:font typeface="Helvetica Neue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767" y="89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ffe50eff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5ffe50eff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ffe50eff9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ffe50eff9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5ffe50eff9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5ffe50eff9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ffe50eff9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ffe50eff9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4010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ffe50eff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ffe50eff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ffe50eff9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ffe50eff9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40318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fe50eff9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fe50eff9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fe50eff9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fe50eff9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08942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fe50eff9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fe50eff9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9122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fe50eff9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fe50eff9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37712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fe50eff9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fe50eff9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80484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fe50eff9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fe50eff9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67980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fe50eff9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fe50eff9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59129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fe50eff9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fe50eff9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73854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fe50eff9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fe50eff9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94457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fe50eff9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fe50eff9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43496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fe50eff9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fe50eff9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07395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ffe50eff9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ffe50eff9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23841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5ffe50eff9_0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5ffe50eff9_0_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5ffe50eff9_0_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5ffe50eff9_0_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UCAL.png"/>
          <p:cNvPicPr preferRelativeResize="0"/>
          <p:nvPr/>
        </p:nvPicPr>
        <p:blipFill rotWithShape="1">
          <a:blip r:embed="rId3">
            <a:alphaModFix/>
          </a:blip>
          <a:srcRect l="8922" t="24466" r="28243" b="11249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060" y="0"/>
            <a:ext cx="8770929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" y="0"/>
            <a:ext cx="826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88149" y="233150"/>
            <a:ext cx="607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0</a:t>
            </a:r>
            <a:fld id="{00000000-1234-1234-1234-123412341234}" type="slidenum"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1</a:t>
            </a:fld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/20</a:t>
            </a:r>
            <a:endParaRPr sz="1400" b="1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394300" y="3269450"/>
            <a:ext cx="27918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Hoy veremos el siguiente tema:</a:t>
            </a:r>
            <a:endParaRPr sz="13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394300" y="3489050"/>
            <a:ext cx="49626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0000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200" b="1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Rebotes y ángulo de incidencia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" y="0"/>
            <a:ext cx="826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88149" y="233150"/>
            <a:ext cx="607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0</a:t>
            </a:r>
            <a:fld id="{00000000-1234-1234-1234-123412341234}" type="slidenum"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2</a:t>
            </a:fld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/20</a:t>
            </a:r>
            <a:endParaRPr sz="1400" b="1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780200" y="2125750"/>
            <a:ext cx="13743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Conoce nuestro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1780200" y="2409938"/>
            <a:ext cx="13302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0000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200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índice</a:t>
            </a:r>
            <a:endParaRPr sz="4200" b="1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4001925" y="1226225"/>
            <a:ext cx="43341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Logro de la sesión…………………………………….. 03</a:t>
            </a:r>
            <a:endParaRPr sz="1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4001925" y="1697350"/>
            <a:ext cx="43341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Idea clave……………..……………………………….. 05</a:t>
            </a:r>
            <a:endParaRPr sz="1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4001925" y="2168475"/>
            <a:ext cx="43341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Desarrollo del tema ………………………………….. 07</a:t>
            </a:r>
            <a:endParaRPr sz="1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4001925" y="2639600"/>
            <a:ext cx="43341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Reflexión final ……….……………………………….. 19</a:t>
            </a:r>
            <a:endParaRPr sz="1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2E8C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" y="0"/>
            <a:ext cx="826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8149" y="233150"/>
            <a:ext cx="607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0</a:t>
            </a:r>
            <a:fld id="{00000000-1234-1234-1234-123412341234}" type="slidenum"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3</a:t>
            </a:fld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/20</a:t>
            </a:r>
            <a:endParaRPr sz="1400" b="1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2365900" y="2290538"/>
            <a:ext cx="1034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0000" bIns="91425" anchor="ctr" anchorCtr="0">
            <a:no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0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01</a:t>
            </a:r>
            <a:endParaRPr sz="6000" b="1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3667325" y="2606913"/>
            <a:ext cx="40005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Nuestro objetivo</a:t>
            </a:r>
            <a:endParaRPr sz="13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3667325" y="2201188"/>
            <a:ext cx="40449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0000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200" b="1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L</a:t>
            </a:r>
            <a:r>
              <a:rPr lang="es" sz="4200" b="1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ogro de la sesión</a:t>
            </a:r>
            <a:endParaRPr sz="4200" b="1"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83" name="Google Shape;83;p15"/>
          <p:cNvCxnSpPr/>
          <p:nvPr/>
        </p:nvCxnSpPr>
        <p:spPr>
          <a:xfrm>
            <a:off x="3505400" y="2255688"/>
            <a:ext cx="0" cy="5721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" y="0"/>
            <a:ext cx="826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 txBox="1">
            <a:spLocks noGrp="1"/>
          </p:cNvSpPr>
          <p:nvPr>
            <p:ph type="sldNum" idx="12"/>
          </p:nvPr>
        </p:nvSpPr>
        <p:spPr>
          <a:xfrm>
            <a:off x="88149" y="233150"/>
            <a:ext cx="607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0</a:t>
            </a:r>
            <a:fld id="{00000000-1234-1234-1234-123412341234}" type="slidenum"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4</a:t>
            </a:fld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/20</a:t>
            </a:r>
            <a:endParaRPr sz="1400" b="1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1778229" y="1711555"/>
            <a:ext cx="6394768" cy="18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MX" sz="1800" dirty="0">
                <a:solidFill>
                  <a:srgbClr val="1F1F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 finalizar la sesión, el estudiante será capaz de interpretar y aplicar el ángulo de incidencia y reflexión de un proyectil en 2D, usando la normal de una superficie para explicar y controlar el cambio de dirección después de una colisión.</a:t>
            </a:r>
            <a:endParaRPr sz="1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1653579" y="2233781"/>
            <a:ext cx="249300" cy="191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0000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200" b="1" dirty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“</a:t>
            </a:r>
            <a:endParaRPr sz="4200" b="1" dirty="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 rot="10800000">
            <a:off x="7988139" y="2571750"/>
            <a:ext cx="249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0000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200" b="1" dirty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“</a:t>
            </a:r>
            <a:endParaRPr sz="4200" b="1" dirty="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2E8C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" y="0"/>
            <a:ext cx="826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8149" y="233150"/>
            <a:ext cx="607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0</a:t>
            </a:r>
            <a:fld id="{00000000-1234-1234-1234-123412341234}" type="slidenum"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5</a:t>
            </a:fld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/20</a:t>
            </a:r>
            <a:endParaRPr sz="1400" b="1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2365900" y="2290538"/>
            <a:ext cx="1034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0000" bIns="91425" anchor="ctr" anchorCtr="0">
            <a:no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000" b="1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02</a:t>
            </a:r>
            <a:endParaRPr sz="6000" b="1"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3667325" y="2606913"/>
            <a:ext cx="40005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recordar</a:t>
            </a:r>
            <a:endParaRPr sz="13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3667325" y="2201188"/>
            <a:ext cx="40449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0000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200" b="1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Idea clave</a:t>
            </a:r>
            <a:endParaRPr sz="4200" b="1"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83" name="Google Shape;83;p15"/>
          <p:cNvCxnSpPr/>
          <p:nvPr/>
        </p:nvCxnSpPr>
        <p:spPr>
          <a:xfrm>
            <a:off x="3505400" y="2255688"/>
            <a:ext cx="0" cy="5721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01698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/>
          <p:nvPr/>
        </p:nvSpPr>
        <p:spPr>
          <a:xfrm>
            <a:off x="3579945" y="1387800"/>
            <a:ext cx="2810700" cy="2452800"/>
          </a:xfrm>
          <a:prstGeom prst="rect">
            <a:avLst/>
          </a:prstGeom>
          <a:solidFill>
            <a:srgbClr val="652E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52E8C"/>
              </a:solidFill>
            </a:endParaRPr>
          </a:p>
        </p:txBody>
      </p:sp>
      <p:pic>
        <p:nvPicPr>
          <p:cNvPr id="130" name="Google Shape;13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" y="0"/>
            <a:ext cx="826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88149" y="233150"/>
            <a:ext cx="607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0</a:t>
            </a:r>
            <a:fld id="{00000000-1234-1234-1234-123412341234}" type="slidenum"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6</a:t>
            </a:fld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/20</a:t>
            </a:r>
            <a:endParaRPr sz="1400" b="1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3822675" y="1700150"/>
            <a:ext cx="2325000" cy="18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MX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“Un rebote no es aleatorio: la nueva dirección del proyectil depende de la dirección inicial y de la normal de la superficie donde impacta.”</a:t>
            </a:r>
          </a:p>
        </p:txBody>
      </p:sp>
      <p:sp>
        <p:nvSpPr>
          <p:cNvPr id="133" name="Google Shape;133;p20"/>
          <p:cNvSpPr/>
          <p:nvPr/>
        </p:nvSpPr>
        <p:spPr>
          <a:xfrm>
            <a:off x="826300" y="-15300"/>
            <a:ext cx="2619900" cy="216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0"/>
          <p:cNvSpPr/>
          <p:nvPr/>
        </p:nvSpPr>
        <p:spPr>
          <a:xfrm>
            <a:off x="826300" y="2248175"/>
            <a:ext cx="2619900" cy="2452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0"/>
          <p:cNvSpPr/>
          <p:nvPr/>
        </p:nvSpPr>
        <p:spPr>
          <a:xfrm>
            <a:off x="826300" y="4798450"/>
            <a:ext cx="2619900" cy="3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0"/>
          <p:cNvSpPr/>
          <p:nvPr/>
        </p:nvSpPr>
        <p:spPr>
          <a:xfrm>
            <a:off x="6524135" y="-15300"/>
            <a:ext cx="2619900" cy="216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0"/>
          <p:cNvSpPr/>
          <p:nvPr/>
        </p:nvSpPr>
        <p:spPr>
          <a:xfrm>
            <a:off x="6524135" y="2248175"/>
            <a:ext cx="2619900" cy="2452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0"/>
          <p:cNvSpPr/>
          <p:nvPr/>
        </p:nvSpPr>
        <p:spPr>
          <a:xfrm>
            <a:off x="6524135" y="4798450"/>
            <a:ext cx="2619900" cy="3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0"/>
          <p:cNvSpPr/>
          <p:nvPr/>
        </p:nvSpPr>
        <p:spPr>
          <a:xfrm>
            <a:off x="3579945" y="-15300"/>
            <a:ext cx="2810700" cy="131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52E8C"/>
              </a:solidFill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3579945" y="3933300"/>
            <a:ext cx="2810700" cy="121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52E8C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2E8C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" y="0"/>
            <a:ext cx="826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8149" y="233150"/>
            <a:ext cx="607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0</a:t>
            </a:r>
            <a:fld id="{00000000-1234-1234-1234-123412341234}" type="slidenum"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7</a:t>
            </a:fld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/20</a:t>
            </a:r>
            <a:endParaRPr sz="1400" b="1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2365900" y="2290538"/>
            <a:ext cx="1034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0000" bIns="91425" anchor="ctr" anchorCtr="0">
            <a:no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000" b="1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03</a:t>
            </a:r>
            <a:endParaRPr sz="6000" b="1"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3667325" y="2606913"/>
            <a:ext cx="40005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Desarrollo del tema</a:t>
            </a:r>
            <a:endParaRPr sz="13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3667325" y="1951788"/>
            <a:ext cx="5075745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0000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200" b="1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Rebotes y ángulo de incidencia</a:t>
            </a:r>
          </a:p>
        </p:txBody>
      </p:sp>
      <p:cxnSp>
        <p:nvCxnSpPr>
          <p:cNvPr id="83" name="Google Shape;83;p15"/>
          <p:cNvCxnSpPr/>
          <p:nvPr/>
        </p:nvCxnSpPr>
        <p:spPr>
          <a:xfrm>
            <a:off x="3505400" y="2255688"/>
            <a:ext cx="0" cy="5721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03236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" y="0"/>
            <a:ext cx="826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sldNum" idx="12"/>
          </p:nvPr>
        </p:nvSpPr>
        <p:spPr>
          <a:xfrm>
            <a:off x="88149" y="233150"/>
            <a:ext cx="607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0</a:t>
            </a:r>
            <a:fld id="{00000000-1234-1234-1234-123412341234}" type="slidenum"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8</a:t>
            </a:fld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/20</a:t>
            </a:r>
            <a:endParaRPr sz="1400" b="1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1310975" y="690025"/>
            <a:ext cx="3789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0000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1" dirty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|pregunta motivadora</a:t>
            </a:r>
            <a:endParaRPr sz="2000" b="1" dirty="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FE5A532-1510-476D-8A64-4BF2C6E9A25C}"/>
              </a:ext>
            </a:extLst>
          </p:cNvPr>
          <p:cNvSpPr txBox="1"/>
          <p:nvPr/>
        </p:nvSpPr>
        <p:spPr>
          <a:xfrm>
            <a:off x="1310974" y="1265058"/>
            <a:ext cx="73325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0C2350"/>
                </a:solidFill>
              </a:defRPr>
            </a:pPr>
            <a:r>
              <a:rPr lang="es-MX" sz="1600" dirty="0"/>
              <a:t>¿Cómo sabe un juego hacia dónde debe rebotar una bala cuando choca contra una pared?</a:t>
            </a: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B734F9C2-7CB5-4E74-9E4E-7C9C343693EA}"/>
              </a:ext>
            </a:extLst>
          </p:cNvPr>
          <p:cNvSpPr/>
          <p:nvPr/>
        </p:nvSpPr>
        <p:spPr>
          <a:xfrm>
            <a:off x="1645799" y="2680358"/>
            <a:ext cx="6711742" cy="1105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1BFC13C0-61C3-46B3-AF54-CF766A347471}"/>
              </a:ext>
            </a:extLst>
          </p:cNvPr>
          <p:cNvSpPr/>
          <p:nvPr/>
        </p:nvSpPr>
        <p:spPr>
          <a:xfrm>
            <a:off x="1645799" y="2680358"/>
            <a:ext cx="6711742" cy="387712"/>
          </a:xfrm>
          <a:prstGeom prst="round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06242C12-BCF0-4324-8CAE-7A378B930B4E}"/>
              </a:ext>
            </a:extLst>
          </p:cNvPr>
          <p:cNvSpPr txBox="1"/>
          <p:nvPr/>
        </p:nvSpPr>
        <p:spPr>
          <a:xfrm>
            <a:off x="1782959" y="2762654"/>
            <a:ext cx="6331832" cy="27964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lang="es-419" sz="1200" dirty="0"/>
              <a:t>Problema abordado</a:t>
            </a:r>
            <a:endParaRPr sz="1200" dirty="0"/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7D91F1E4-F0C8-4A9A-B848-CBC5543537F9}"/>
              </a:ext>
            </a:extLst>
          </p:cNvPr>
          <p:cNvSpPr txBox="1"/>
          <p:nvPr/>
        </p:nvSpPr>
        <p:spPr>
          <a:xfrm>
            <a:off x="1838169" y="3197484"/>
            <a:ext cx="6372615" cy="6463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s-MX" sz="1200" dirty="0">
                <a:solidFill>
                  <a:srgbClr val="212121"/>
                </a:solidFill>
              </a:rPr>
              <a:t>Dado un proyectil en movimiento y una pared, necesitamos calcular una nueva dirección que sea coherente con la geometría del impacto.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" y="0"/>
            <a:ext cx="826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sldNum" idx="12"/>
          </p:nvPr>
        </p:nvSpPr>
        <p:spPr>
          <a:xfrm>
            <a:off x="88149" y="233150"/>
            <a:ext cx="607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0</a:t>
            </a:r>
            <a:fld id="{00000000-1234-1234-1234-123412341234}" type="slidenum"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9</a:t>
            </a:fld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/20</a:t>
            </a:r>
            <a:endParaRPr sz="1400" b="1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1310975" y="690025"/>
            <a:ext cx="598541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0000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1" dirty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|</a:t>
            </a:r>
            <a:r>
              <a:rPr lang="es-MX" sz="2000" b="1" dirty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Contexto aplicado: ¿por qué estudiar rebotes?</a:t>
            </a:r>
            <a:endParaRPr sz="2000" b="1" dirty="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1C0184D0-E9F5-4E2F-A97E-176881B9CBAE}"/>
              </a:ext>
            </a:extLst>
          </p:cNvPr>
          <p:cNvSpPr txBox="1"/>
          <p:nvPr/>
        </p:nvSpPr>
        <p:spPr>
          <a:xfrm>
            <a:off x="1419889" y="1016938"/>
            <a:ext cx="71403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96969"/>
                </a:solidFill>
              </a:defRPr>
            </a:pPr>
            <a:r>
              <a:rPr lang="es-MX" sz="1200" dirty="0"/>
              <a:t>Los rebotes son una mecánica frecuente en juegos, simuladores y sistemas interactivos.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60F2656D-D189-49C5-9325-2A6826D986C0}"/>
              </a:ext>
            </a:extLst>
          </p:cNvPr>
          <p:cNvSpPr txBox="1"/>
          <p:nvPr/>
        </p:nvSpPr>
        <p:spPr>
          <a:xfrm>
            <a:off x="1427871" y="1554707"/>
            <a:ext cx="7203606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  <a:defRPr sz="2100">
                <a:solidFill>
                  <a:srgbClr val="262626"/>
                </a:solidFill>
              </a:defRPr>
            </a:pPr>
            <a:r>
              <a:rPr lang="es-MX" sz="1200" dirty="0"/>
              <a:t>Balas que rebotan en paredes.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  <a:defRPr sz="2100">
                <a:solidFill>
                  <a:srgbClr val="262626"/>
                </a:solidFill>
              </a:defRPr>
            </a:pPr>
            <a:r>
              <a:rPr lang="es-MX" sz="1200" dirty="0"/>
              <a:t>Rayos o láseres que cambian de dirección.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  <a:defRPr sz="2100">
                <a:solidFill>
                  <a:srgbClr val="262626"/>
                </a:solidFill>
              </a:defRPr>
            </a:pPr>
            <a:r>
              <a:rPr lang="es-MX" sz="1200" dirty="0"/>
              <a:t>Pelotas que impactan contra bordes.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  <a:defRPr sz="2100">
                <a:solidFill>
                  <a:srgbClr val="262626"/>
                </a:solidFill>
              </a:defRPr>
            </a:pPr>
            <a:r>
              <a:rPr lang="es-MX" sz="1200" dirty="0"/>
              <a:t>Proyectiles con comportamiento más estratégico.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43502AB-DC18-47A4-9D49-BC7E24EF9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5952" y="3040062"/>
            <a:ext cx="4448175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868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" y="0"/>
            <a:ext cx="826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sldNum" idx="12"/>
          </p:nvPr>
        </p:nvSpPr>
        <p:spPr>
          <a:xfrm>
            <a:off x="88149" y="233150"/>
            <a:ext cx="607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0</a:t>
            </a:r>
            <a:fld id="{00000000-1234-1234-1234-123412341234}" type="slidenum"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10</a:t>
            </a:fld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/20</a:t>
            </a:r>
            <a:endParaRPr sz="1400" b="1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1310975" y="690025"/>
            <a:ext cx="3789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0000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1" dirty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|</a:t>
            </a:r>
            <a:r>
              <a:rPr lang="es-MX" sz="2000" b="1" dirty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Incidencia y reflexión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0FD76E22-5391-4F14-ABDC-5ACC992737BC}"/>
              </a:ext>
            </a:extLst>
          </p:cNvPr>
          <p:cNvSpPr/>
          <p:nvPr/>
        </p:nvSpPr>
        <p:spPr>
          <a:xfrm>
            <a:off x="1388106" y="1115915"/>
            <a:ext cx="7186151" cy="712885"/>
          </a:xfrm>
          <a:prstGeom prst="roundRect">
            <a:avLst>
              <a:gd name="adj" fmla="val 7273"/>
            </a:avLst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B59483B-D408-4FED-BF1C-00A7DAD4E918}"/>
              </a:ext>
            </a:extLst>
          </p:cNvPr>
          <p:cNvSpPr/>
          <p:nvPr/>
        </p:nvSpPr>
        <p:spPr>
          <a:xfrm>
            <a:off x="1517530" y="1115568"/>
            <a:ext cx="68175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s-MX" b="1" dirty="0">
                <a:solidFill>
                  <a:srgbClr val="212121"/>
                </a:solidFill>
              </a:rPr>
              <a:t>Dos ángulos para describir el cambio de dirección.</a:t>
            </a:r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653A2627-DBA5-45B5-BB9E-9FB25C91F679}"/>
              </a:ext>
            </a:extLst>
          </p:cNvPr>
          <p:cNvSpPr/>
          <p:nvPr/>
        </p:nvSpPr>
        <p:spPr>
          <a:xfrm>
            <a:off x="1388106" y="2181861"/>
            <a:ext cx="2381015" cy="1234440"/>
          </a:xfrm>
          <a:prstGeom prst="roundRect">
            <a:avLst>
              <a:gd name="adj" fmla="val 5926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D73094B-2887-4610-AF8D-4B96E58FDDF1}"/>
              </a:ext>
            </a:extLst>
          </p:cNvPr>
          <p:cNvSpPr/>
          <p:nvPr/>
        </p:nvSpPr>
        <p:spPr>
          <a:xfrm>
            <a:off x="1552698" y="2300733"/>
            <a:ext cx="22332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B91C1C"/>
                </a:solidFill>
              </a:rPr>
              <a:t>Ángulo de incidencia</a:t>
            </a:r>
            <a:endParaRPr lang="en-US" sz="132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2566E702-C8B4-431B-9652-F35A3A853822}"/>
              </a:ext>
            </a:extLst>
          </p:cNvPr>
          <p:cNvSpPr/>
          <p:nvPr/>
        </p:nvSpPr>
        <p:spPr>
          <a:xfrm>
            <a:off x="1552698" y="2639061"/>
            <a:ext cx="213500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11827"/>
                </a:solidFill>
              </a:rPr>
              <a:t>Es el ángulo con el que el proyectil llega a la superficie. Se mide respecto a la normal, no respecto a la pared.</a:t>
            </a:r>
            <a:endParaRPr lang="en-US" sz="1210" dirty="0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E74EEBB2-4096-4DB9-9311-695A40672CA2}"/>
              </a:ext>
            </a:extLst>
          </p:cNvPr>
          <p:cNvSpPr/>
          <p:nvPr/>
        </p:nvSpPr>
        <p:spPr>
          <a:xfrm>
            <a:off x="6122854" y="2181861"/>
            <a:ext cx="2438144" cy="1234440"/>
          </a:xfrm>
          <a:prstGeom prst="roundRect">
            <a:avLst>
              <a:gd name="adj" fmla="val 5926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A8D94ABC-682D-4EE8-99BF-76892DF9635D}"/>
              </a:ext>
            </a:extLst>
          </p:cNvPr>
          <p:cNvSpPr/>
          <p:nvPr/>
        </p:nvSpPr>
        <p:spPr>
          <a:xfrm>
            <a:off x="6287446" y="2300733"/>
            <a:ext cx="22868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8D57"/>
                </a:solidFill>
              </a:rPr>
              <a:t>Ángulo de reflexión</a:t>
            </a:r>
            <a:endParaRPr lang="en-US" sz="132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02FF3C6C-E50B-4115-9C6E-570916A42E1C}"/>
              </a:ext>
            </a:extLst>
          </p:cNvPr>
          <p:cNvSpPr/>
          <p:nvPr/>
        </p:nvSpPr>
        <p:spPr>
          <a:xfrm>
            <a:off x="6287447" y="2639061"/>
            <a:ext cx="228681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11827"/>
                </a:solidFill>
              </a:rPr>
              <a:t>Es el ángulo con el que el proyectil sale después del impacto. En un rebote ideal, tiene la misma medida que el ángulo de incidencia.</a:t>
            </a:r>
            <a:endParaRPr lang="en-US" sz="121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524EECA-CEE0-457B-A336-2938F6BF52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200" y="3535173"/>
            <a:ext cx="3756538" cy="143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895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" y="0"/>
            <a:ext cx="826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sldNum" idx="12"/>
          </p:nvPr>
        </p:nvSpPr>
        <p:spPr>
          <a:xfrm>
            <a:off x="88149" y="233150"/>
            <a:ext cx="607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0</a:t>
            </a:r>
            <a:fld id="{00000000-1234-1234-1234-123412341234}" type="slidenum"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11</a:t>
            </a:fld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/20</a:t>
            </a:r>
            <a:endParaRPr sz="1400" b="1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1310975" y="690025"/>
            <a:ext cx="3789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0000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1" dirty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|</a:t>
            </a:r>
            <a:r>
              <a:rPr lang="es-MX" sz="2000" b="1" dirty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La normal: la referencia del rebote</a:t>
            </a:r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A738274B-B4B1-4F9E-B29D-81D8B7E768F1}"/>
              </a:ext>
            </a:extLst>
          </p:cNvPr>
          <p:cNvSpPr/>
          <p:nvPr/>
        </p:nvSpPr>
        <p:spPr>
          <a:xfrm>
            <a:off x="1310975" y="1344168"/>
            <a:ext cx="721966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67AE5321-B334-4C00-8EBE-4353064727FE}"/>
              </a:ext>
            </a:extLst>
          </p:cNvPr>
          <p:cNvSpPr/>
          <p:nvPr/>
        </p:nvSpPr>
        <p:spPr>
          <a:xfrm>
            <a:off x="1402415" y="1472184"/>
            <a:ext cx="6949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MX" sz="1800" dirty="0">
                <a:solidFill>
                  <a:srgbClr val="17213A"/>
                </a:solidFill>
                <a:latin typeface="+mn-lt"/>
                <a:ea typeface="Cambria Math" pitchFamily="34" charset="-122"/>
                <a:cs typeface="Cambria Math" pitchFamily="34" charset="-120"/>
              </a:rPr>
              <a:t>Para calcular un rebote necesitamos saber cómo está orientada la superficie.</a:t>
            </a: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4F2F1E25-676A-4136-B6CA-46B3D4642DE4}"/>
              </a:ext>
            </a:extLst>
          </p:cNvPr>
          <p:cNvSpPr/>
          <p:nvPr/>
        </p:nvSpPr>
        <p:spPr>
          <a:xfrm>
            <a:off x="1310975" y="2336293"/>
            <a:ext cx="2677766" cy="1280160"/>
          </a:xfrm>
          <a:prstGeom prst="roundRect">
            <a:avLst>
              <a:gd name="adj" fmla="val 5714"/>
            </a:avLst>
          </a:prstGeom>
          <a:solidFill>
            <a:srgbClr val="E0F2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DB6596B2-963D-4FC1-A921-12D4C54F83A8}"/>
              </a:ext>
            </a:extLst>
          </p:cNvPr>
          <p:cNvSpPr/>
          <p:nvPr/>
        </p:nvSpPr>
        <p:spPr>
          <a:xfrm>
            <a:off x="1475567" y="2455165"/>
            <a:ext cx="2499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3A70"/>
                </a:solidFill>
              </a:rPr>
              <a:t>¿Qué es la normal?</a:t>
            </a:r>
            <a:endParaRPr lang="en-US" sz="132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24221338-B1D6-4466-ADA0-78AE0DD4B9AB}"/>
              </a:ext>
            </a:extLst>
          </p:cNvPr>
          <p:cNvSpPr/>
          <p:nvPr/>
        </p:nvSpPr>
        <p:spPr>
          <a:xfrm>
            <a:off x="1475567" y="2793493"/>
            <a:ext cx="249924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11827"/>
                </a:solidFill>
              </a:rPr>
              <a:t>Es un vector perpendicular a la superficie de impacto. Sirve como referencia para reflejar la dirección del proyectil.</a:t>
            </a:r>
            <a:endParaRPr lang="en-US" sz="121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F1EAD8D-0927-4CD8-A286-40A06B84A904}"/>
              </a:ext>
            </a:extLst>
          </p:cNvPr>
          <p:cNvSpPr/>
          <p:nvPr/>
        </p:nvSpPr>
        <p:spPr>
          <a:xfrm>
            <a:off x="1310975" y="3753613"/>
            <a:ext cx="2677766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F58E8FAC-0893-4613-953C-2CDE35A28F44}"/>
              </a:ext>
            </a:extLst>
          </p:cNvPr>
          <p:cNvSpPr/>
          <p:nvPr/>
        </p:nvSpPr>
        <p:spPr>
          <a:xfrm>
            <a:off x="1475567" y="3872485"/>
            <a:ext cx="2499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7F1D7A"/>
                </a:solidFill>
              </a:rPr>
              <a:t>Ejemplo</a:t>
            </a:r>
            <a:endParaRPr lang="en-US" sz="132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A374625C-FC35-45EC-9631-DC7F69DBC70B}"/>
              </a:ext>
            </a:extLst>
          </p:cNvPr>
          <p:cNvSpPr/>
          <p:nvPr/>
        </p:nvSpPr>
        <p:spPr>
          <a:xfrm>
            <a:off x="1475567" y="4210813"/>
            <a:ext cx="249924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11827"/>
                </a:solidFill>
              </a:rPr>
              <a:t>En una pared vertical, la normal apunta horizontalmente. En un piso, la normal apunta verticalmente.</a:t>
            </a:r>
            <a:endParaRPr lang="en-US" sz="121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D221017A-1B97-4F87-B475-463581A10835}"/>
              </a:ext>
            </a:extLst>
          </p:cNvPr>
          <p:cNvSpPr/>
          <p:nvPr/>
        </p:nvSpPr>
        <p:spPr>
          <a:xfrm>
            <a:off x="5806105" y="2330617"/>
            <a:ext cx="2011680" cy="165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Pared vertical</a:t>
            </a:r>
            <a:endParaRPr lang="en-US" sz="1400" dirty="0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B0F8951C-E3E2-440D-83CA-614455A1A5AD}"/>
              </a:ext>
            </a:extLst>
          </p:cNvPr>
          <p:cNvSpPr/>
          <p:nvPr/>
        </p:nvSpPr>
        <p:spPr>
          <a:xfrm>
            <a:off x="6381797" y="2606569"/>
            <a:ext cx="128016" cy="909299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E795EF69-60DD-4516-8677-95F4DB57F75E}"/>
              </a:ext>
            </a:extLst>
          </p:cNvPr>
          <p:cNvSpPr/>
          <p:nvPr/>
        </p:nvSpPr>
        <p:spPr>
          <a:xfrm>
            <a:off x="6381797" y="2756917"/>
            <a:ext cx="0" cy="0"/>
          </a:xfrm>
          <a:prstGeom prst="line">
            <a:avLst/>
          </a:prstGeom>
          <a:noFill/>
          <a:ln w="38100">
            <a:solidFill>
              <a:srgbClr val="0F3A70"/>
            </a:solidFill>
            <a:prstDash val="solid"/>
            <a:tailEnd type="triangle"/>
          </a:ln>
        </p:spPr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C69805C9-21C7-4591-A47F-1B544849AA1E}"/>
              </a:ext>
            </a:extLst>
          </p:cNvPr>
          <p:cNvSpPr/>
          <p:nvPr/>
        </p:nvSpPr>
        <p:spPr>
          <a:xfrm>
            <a:off x="5010197" y="2966615"/>
            <a:ext cx="1051560" cy="137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3A70"/>
                </a:solidFill>
              </a:rPr>
              <a:t>normal</a:t>
            </a:r>
            <a:endParaRPr lang="en-US" sz="12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D3EB1B65-B123-4171-9A02-140880F821BC}"/>
              </a:ext>
            </a:extLst>
          </p:cNvPr>
          <p:cNvSpPr/>
          <p:nvPr/>
        </p:nvSpPr>
        <p:spPr>
          <a:xfrm>
            <a:off x="5467397" y="4173501"/>
            <a:ext cx="2103120" cy="165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Piso horizontal</a:t>
            </a:r>
            <a:endParaRPr lang="en-US" sz="1400" dirty="0"/>
          </a:p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2CEFBF8B-1343-4F10-9811-A7AA5F44FAC0}"/>
              </a:ext>
            </a:extLst>
          </p:cNvPr>
          <p:cNvSpPr/>
          <p:nvPr/>
        </p:nvSpPr>
        <p:spPr>
          <a:xfrm>
            <a:off x="5558837" y="4846891"/>
            <a:ext cx="2834640" cy="77153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630321AD-8E88-47C1-BB6D-A52A275F69F1}"/>
              </a:ext>
            </a:extLst>
          </p:cNvPr>
          <p:cNvSpPr/>
          <p:nvPr/>
        </p:nvSpPr>
        <p:spPr>
          <a:xfrm>
            <a:off x="6976157" y="4796029"/>
            <a:ext cx="0" cy="0"/>
          </a:xfrm>
          <a:prstGeom prst="line">
            <a:avLst/>
          </a:prstGeom>
          <a:noFill/>
          <a:ln w="38100">
            <a:solidFill>
              <a:srgbClr val="0F3A70"/>
            </a:solidFill>
            <a:prstDash val="solid"/>
            <a:tailEnd type="triangle"/>
          </a:ln>
        </p:spPr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1EEB09F0-3F52-4F88-86DA-60D1D7FF37D5}"/>
              </a:ext>
            </a:extLst>
          </p:cNvPr>
          <p:cNvSpPr/>
          <p:nvPr/>
        </p:nvSpPr>
        <p:spPr>
          <a:xfrm>
            <a:off x="7616237" y="4429655"/>
            <a:ext cx="914400" cy="137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3A70"/>
                </a:solidFill>
              </a:rPr>
              <a:t>normal</a:t>
            </a:r>
            <a:endParaRPr lang="en-US" sz="1200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8661906F-D45F-47A0-BDAD-65657D112503}"/>
              </a:ext>
            </a:extLst>
          </p:cNvPr>
          <p:cNvCxnSpPr>
            <a:cxnSpLocks/>
          </p:cNvCxnSpPr>
          <p:nvPr/>
        </p:nvCxnSpPr>
        <p:spPr>
          <a:xfrm>
            <a:off x="6148400" y="2547175"/>
            <a:ext cx="131985" cy="1170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F72F9E92-EB7B-4A4B-87D1-B1A757FB2CC8}"/>
              </a:ext>
            </a:extLst>
          </p:cNvPr>
          <p:cNvCxnSpPr>
            <a:cxnSpLocks/>
          </p:cNvCxnSpPr>
          <p:nvPr/>
        </p:nvCxnSpPr>
        <p:spPr>
          <a:xfrm>
            <a:off x="6518957" y="4440039"/>
            <a:ext cx="337162" cy="256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34B13BC5-9585-4CB7-B39C-CDB7802AA68C}"/>
              </a:ext>
            </a:extLst>
          </p:cNvPr>
          <p:cNvCxnSpPr/>
          <p:nvPr/>
        </p:nvCxnSpPr>
        <p:spPr>
          <a:xfrm>
            <a:off x="4920806" y="3209807"/>
            <a:ext cx="1460991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387F4812-42A2-46A4-BF99-32EECDCA74CB}"/>
              </a:ext>
            </a:extLst>
          </p:cNvPr>
          <p:cNvCxnSpPr>
            <a:cxnSpLocks/>
          </p:cNvCxnSpPr>
          <p:nvPr/>
        </p:nvCxnSpPr>
        <p:spPr>
          <a:xfrm>
            <a:off x="7450667" y="3653837"/>
            <a:ext cx="0" cy="118869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558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" y="0"/>
            <a:ext cx="826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sldNum" idx="12"/>
          </p:nvPr>
        </p:nvSpPr>
        <p:spPr>
          <a:xfrm>
            <a:off x="88149" y="233150"/>
            <a:ext cx="607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0</a:t>
            </a:r>
            <a:fld id="{00000000-1234-1234-1234-123412341234}" type="slidenum"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12</a:t>
            </a:fld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/20</a:t>
            </a:r>
            <a:endParaRPr sz="1400" b="1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1310975" y="690025"/>
            <a:ext cx="3789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0000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1" dirty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|</a:t>
            </a:r>
            <a:r>
              <a:rPr lang="es-MX" sz="2000" b="1" dirty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Vector de entrada y vector reflejado</a:t>
            </a:r>
          </a:p>
        </p:txBody>
      </p:sp>
      <p:sp>
        <p:nvSpPr>
          <p:cNvPr id="35" name="Shape 4">
            <a:extLst>
              <a:ext uri="{FF2B5EF4-FFF2-40B4-BE49-F238E27FC236}">
                <a16:creationId xmlns:a16="http://schemas.microsoft.com/office/drawing/2014/main" id="{584C61FD-0351-4915-8E88-84982F5DEF96}"/>
              </a:ext>
            </a:extLst>
          </p:cNvPr>
          <p:cNvSpPr/>
          <p:nvPr/>
        </p:nvSpPr>
        <p:spPr>
          <a:xfrm>
            <a:off x="1448592" y="1187214"/>
            <a:ext cx="2321898" cy="1005840"/>
          </a:xfrm>
          <a:prstGeom prst="roundRect">
            <a:avLst>
              <a:gd name="adj" fmla="val 7273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949FB241-9A73-4344-8F44-547E87D07691}"/>
              </a:ext>
            </a:extLst>
          </p:cNvPr>
          <p:cNvSpPr/>
          <p:nvPr/>
        </p:nvSpPr>
        <p:spPr>
          <a:xfrm>
            <a:off x="1613184" y="1306086"/>
            <a:ext cx="2095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B91C1C"/>
                </a:solidFill>
              </a:rPr>
              <a:t>Vector de entrada</a:t>
            </a:r>
            <a:endParaRPr lang="en-US" sz="1320" dirty="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5B257690-95D5-443F-B1F0-710DB1FA6FB8}"/>
              </a:ext>
            </a:extLst>
          </p:cNvPr>
          <p:cNvSpPr/>
          <p:nvPr/>
        </p:nvSpPr>
        <p:spPr>
          <a:xfrm>
            <a:off x="1613184" y="1644414"/>
            <a:ext cx="209598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11827"/>
                </a:solidFill>
              </a:rPr>
              <a:t>Dirección con la que el proyectil llega a la superficie.</a:t>
            </a:r>
            <a:endParaRPr lang="en-US" sz="1210" dirty="0"/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BC95A4C-73B9-4DE8-8373-DE35978931FA}"/>
              </a:ext>
            </a:extLst>
          </p:cNvPr>
          <p:cNvSpPr/>
          <p:nvPr/>
        </p:nvSpPr>
        <p:spPr>
          <a:xfrm>
            <a:off x="3935082" y="1187214"/>
            <a:ext cx="2369688" cy="1005840"/>
          </a:xfrm>
          <a:prstGeom prst="roundRect">
            <a:avLst>
              <a:gd name="adj" fmla="val 727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7971FB7C-EED1-47A2-B258-8F6EE671EED0}"/>
              </a:ext>
            </a:extLst>
          </p:cNvPr>
          <p:cNvSpPr/>
          <p:nvPr/>
        </p:nvSpPr>
        <p:spPr>
          <a:xfrm>
            <a:off x="4099674" y="1306086"/>
            <a:ext cx="21391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8D57"/>
                </a:solidFill>
              </a:rPr>
              <a:t>Vector reflejado</a:t>
            </a:r>
            <a:endParaRPr lang="en-US" sz="1320" dirty="0"/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7519CDC6-6682-45BB-8243-E6F21774B7DC}"/>
              </a:ext>
            </a:extLst>
          </p:cNvPr>
          <p:cNvSpPr/>
          <p:nvPr/>
        </p:nvSpPr>
        <p:spPr>
          <a:xfrm>
            <a:off x="4099674" y="1644414"/>
            <a:ext cx="213912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11827"/>
                </a:solidFill>
              </a:rPr>
              <a:t>Nueva dirección que toma el proyectil después del choque.</a:t>
            </a:r>
            <a:endParaRPr lang="en-US" sz="1210" dirty="0"/>
          </a:p>
        </p:txBody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D6D750EC-7368-4C12-9BC1-634C24114E37}"/>
              </a:ext>
            </a:extLst>
          </p:cNvPr>
          <p:cNvSpPr/>
          <p:nvPr/>
        </p:nvSpPr>
        <p:spPr>
          <a:xfrm>
            <a:off x="6469362" y="1187214"/>
            <a:ext cx="2178577" cy="1005840"/>
          </a:xfrm>
          <a:prstGeom prst="roundRect">
            <a:avLst>
              <a:gd name="adj" fmla="val 7273"/>
            </a:avLst>
          </a:prstGeom>
          <a:solidFill>
            <a:srgbClr val="E0F2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C67090D1-57F7-41B0-B8B1-EBEE7DBEFC0C}"/>
              </a:ext>
            </a:extLst>
          </p:cNvPr>
          <p:cNvSpPr/>
          <p:nvPr/>
        </p:nvSpPr>
        <p:spPr>
          <a:xfrm>
            <a:off x="6633954" y="1306086"/>
            <a:ext cx="1966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3A70"/>
                </a:solidFill>
              </a:rPr>
              <a:t>Normal</a:t>
            </a:r>
            <a:endParaRPr lang="en-US" sz="1320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046F3635-CE0D-4708-883D-C61DE11CDD6B}"/>
              </a:ext>
            </a:extLst>
          </p:cNvPr>
          <p:cNvSpPr/>
          <p:nvPr/>
        </p:nvSpPr>
        <p:spPr>
          <a:xfrm>
            <a:off x="6633954" y="1644414"/>
            <a:ext cx="1966607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11827"/>
                </a:solidFill>
              </a:rPr>
              <a:t>Eje de referencia que permite calcular la reflexión.</a:t>
            </a:r>
            <a:endParaRPr lang="en-US" sz="121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0F0E157-BFC7-4538-9A62-8D319B6F9D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5887" y="2652712"/>
            <a:ext cx="5769375" cy="221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144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" y="0"/>
            <a:ext cx="826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sldNum" idx="12"/>
          </p:nvPr>
        </p:nvSpPr>
        <p:spPr>
          <a:xfrm>
            <a:off x="88149" y="233150"/>
            <a:ext cx="607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0</a:t>
            </a:r>
            <a:fld id="{00000000-1234-1234-1234-123412341234}" type="slidenum"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13</a:t>
            </a:fld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/20</a:t>
            </a:r>
            <a:endParaRPr sz="1400" b="1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1E5180F-C651-434D-8973-C81562449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150" y="0"/>
            <a:ext cx="685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70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" y="0"/>
            <a:ext cx="826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sldNum" idx="12"/>
          </p:nvPr>
        </p:nvSpPr>
        <p:spPr>
          <a:xfrm>
            <a:off x="88149" y="233150"/>
            <a:ext cx="607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0</a:t>
            </a:r>
            <a:fld id="{00000000-1234-1234-1234-123412341234}" type="slidenum"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14</a:t>
            </a:fld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/20</a:t>
            </a:r>
            <a:endParaRPr sz="1400" b="1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1310975" y="690025"/>
            <a:ext cx="3789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0000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1" dirty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|</a:t>
            </a:r>
            <a:r>
              <a:rPr lang="es-MX" sz="2000" b="1" dirty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Interpretación intuitiva de la fórmula</a:t>
            </a: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C06A2648-72A7-4961-81BC-BF38CDFC53CC}"/>
              </a:ext>
            </a:extLst>
          </p:cNvPr>
          <p:cNvSpPr/>
          <p:nvPr/>
        </p:nvSpPr>
        <p:spPr>
          <a:xfrm>
            <a:off x="1456124" y="1218841"/>
            <a:ext cx="705946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No cambia todo el movimiento: se invierte la componente que va contra la superficie.</a:t>
            </a:r>
            <a:endParaRPr lang="en-US" sz="1350" dirty="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D3756534-46ED-447B-B946-3C25ACF7D9A0}"/>
              </a:ext>
            </a:extLst>
          </p:cNvPr>
          <p:cNvSpPr/>
          <p:nvPr/>
        </p:nvSpPr>
        <p:spPr>
          <a:xfrm>
            <a:off x="1385047" y="1664953"/>
            <a:ext cx="5166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BFE96D7D-30E5-4B10-885D-E6522CD26A16}"/>
              </a:ext>
            </a:extLst>
          </p:cNvPr>
          <p:cNvSpPr/>
          <p:nvPr/>
        </p:nvSpPr>
        <p:spPr>
          <a:xfrm>
            <a:off x="1549639" y="1783825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7F1D7A"/>
                </a:solidFill>
              </a:rPr>
              <a:t>Ejemplo con pared vertical</a:t>
            </a:r>
            <a:endParaRPr lang="en-US" sz="132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5C74A2EC-4BA6-41CE-9FC8-25DE2D086A44}"/>
              </a:ext>
            </a:extLst>
          </p:cNvPr>
          <p:cNvSpPr/>
          <p:nvPr/>
        </p:nvSpPr>
        <p:spPr>
          <a:xfrm>
            <a:off x="1549639" y="2122153"/>
            <a:ext cx="483717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11827"/>
                </a:solidFill>
              </a:rPr>
              <a:t>Cuando un proyectil choca contra una pared vertical, cambia el signo de la componente horizontal, pero conserva la componente vertical.</a:t>
            </a:r>
            <a:endParaRPr lang="en-US" sz="121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2039A551-CEE0-478E-A3ED-50B1EC8CC8B6}"/>
              </a:ext>
            </a:extLst>
          </p:cNvPr>
          <p:cNvSpPr/>
          <p:nvPr/>
        </p:nvSpPr>
        <p:spPr>
          <a:xfrm>
            <a:off x="1705087" y="3493753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91C1C"/>
                </a:solidFill>
              </a:rPr>
              <a:t>Antes:  v = ( +x , y )</a:t>
            </a:r>
            <a:endParaRPr lang="en-US" sz="20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8B04CAC-9314-4730-B370-4D4062C7E951}"/>
              </a:ext>
            </a:extLst>
          </p:cNvPr>
          <p:cNvSpPr/>
          <p:nvPr/>
        </p:nvSpPr>
        <p:spPr>
          <a:xfrm>
            <a:off x="1705087" y="4088113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8D57"/>
                </a:solidFill>
              </a:rPr>
              <a:t>Después: r = ( −x , y )</a:t>
            </a:r>
            <a:endParaRPr lang="en-US" sz="2000" dirty="0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BAA4BE75-D991-457F-8100-1B80DB6AB8B0}"/>
              </a:ext>
            </a:extLst>
          </p:cNvPr>
          <p:cNvSpPr/>
          <p:nvPr/>
        </p:nvSpPr>
        <p:spPr>
          <a:xfrm>
            <a:off x="6978834" y="1964718"/>
            <a:ext cx="177053" cy="312802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A6241DCE-9DBE-4985-B890-FCB1BA46DC2F}"/>
              </a:ext>
            </a:extLst>
          </p:cNvPr>
          <p:cNvSpPr/>
          <p:nvPr/>
        </p:nvSpPr>
        <p:spPr>
          <a:xfrm>
            <a:off x="4665457" y="4720573"/>
            <a:ext cx="2286000" cy="0"/>
          </a:xfrm>
          <a:prstGeom prst="line">
            <a:avLst/>
          </a:prstGeom>
          <a:noFill/>
          <a:ln w="3810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5EE3ADF9-80D8-4CF1-9227-94CDA4121996}"/>
              </a:ext>
            </a:extLst>
          </p:cNvPr>
          <p:cNvSpPr/>
          <p:nvPr/>
        </p:nvSpPr>
        <p:spPr>
          <a:xfrm>
            <a:off x="7125139" y="3610638"/>
            <a:ext cx="0" cy="0"/>
          </a:xfrm>
          <a:prstGeom prst="line">
            <a:avLst/>
          </a:prstGeom>
          <a:noFill/>
          <a:ln w="38100">
            <a:solidFill>
              <a:srgbClr val="118D57"/>
            </a:solidFill>
            <a:prstDash val="solid"/>
            <a:tailEnd type="triangle"/>
          </a:ln>
        </p:spPr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787DC5F9-97EB-4729-8742-F318CE9A797F}"/>
              </a:ext>
            </a:extLst>
          </p:cNvPr>
          <p:cNvSpPr/>
          <p:nvPr/>
        </p:nvSpPr>
        <p:spPr>
          <a:xfrm>
            <a:off x="7344595" y="3290598"/>
            <a:ext cx="1731532" cy="223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F1D7A"/>
                </a:solidFill>
              </a:rPr>
              <a:t>x cambia de signo</a:t>
            </a:r>
            <a:endParaRPr lang="en-US" sz="15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5690F37D-0082-4C97-AF1A-6EF068529206}"/>
              </a:ext>
            </a:extLst>
          </p:cNvPr>
          <p:cNvSpPr/>
          <p:nvPr/>
        </p:nvSpPr>
        <p:spPr>
          <a:xfrm>
            <a:off x="7344595" y="3747798"/>
            <a:ext cx="1633744" cy="202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75569"/>
                </a:solidFill>
              </a:rPr>
              <a:t>y se conserva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044259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" y="0"/>
            <a:ext cx="826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sldNum" idx="12"/>
          </p:nvPr>
        </p:nvSpPr>
        <p:spPr>
          <a:xfrm>
            <a:off x="88149" y="233150"/>
            <a:ext cx="607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0</a:t>
            </a:r>
            <a:fld id="{00000000-1234-1234-1234-123412341234}" type="slidenum"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15</a:t>
            </a:fld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/20</a:t>
            </a:r>
            <a:endParaRPr sz="1400" b="1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1310975" y="690025"/>
            <a:ext cx="3789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0000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1" dirty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|</a:t>
            </a:r>
            <a:r>
              <a:rPr lang="es-419" sz="2000" b="1" dirty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Control y restricciones</a:t>
            </a: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827561E6-FE68-47A1-99EA-B541F4F7B6B4}"/>
              </a:ext>
            </a:extLst>
          </p:cNvPr>
          <p:cNvSpPr/>
          <p:nvPr/>
        </p:nvSpPr>
        <p:spPr>
          <a:xfrm>
            <a:off x="1310975" y="1361440"/>
            <a:ext cx="2494280" cy="1325880"/>
          </a:xfrm>
          <a:prstGeom prst="roundRect">
            <a:avLst>
              <a:gd name="adj" fmla="val 551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D6B8738C-BC0F-447E-80D4-867354565711}"/>
              </a:ext>
            </a:extLst>
          </p:cNvPr>
          <p:cNvSpPr/>
          <p:nvPr/>
        </p:nvSpPr>
        <p:spPr>
          <a:xfrm>
            <a:off x="1475567" y="1480312"/>
            <a:ext cx="22640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D97706"/>
                </a:solidFill>
              </a:rPr>
              <a:t>Número máximo de rebotes</a:t>
            </a:r>
            <a:endParaRPr lang="en-US" sz="132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012A9E04-4516-422E-99D2-03D7910AD663}"/>
              </a:ext>
            </a:extLst>
          </p:cNvPr>
          <p:cNvSpPr/>
          <p:nvPr/>
        </p:nvSpPr>
        <p:spPr>
          <a:xfrm>
            <a:off x="1475567" y="1818640"/>
            <a:ext cx="2264039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11827"/>
                </a:solidFill>
              </a:rPr>
              <a:t>Evita que un proyectil rebote infinitamente y sobrecargue el sistema.</a:t>
            </a:r>
            <a:endParaRPr lang="en-US" sz="1210" dirty="0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72FFB524-90D3-434A-A93A-6A0E27D0E253}"/>
              </a:ext>
            </a:extLst>
          </p:cNvPr>
          <p:cNvSpPr/>
          <p:nvPr/>
        </p:nvSpPr>
        <p:spPr>
          <a:xfrm>
            <a:off x="3969847" y="1361440"/>
            <a:ext cx="2494280" cy="1325880"/>
          </a:xfrm>
          <a:prstGeom prst="roundRect">
            <a:avLst>
              <a:gd name="adj" fmla="val 5517"/>
            </a:avLst>
          </a:prstGeom>
          <a:solidFill>
            <a:srgbClr val="E0F2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77FAB0CB-BC52-436D-B012-5D57D5712D81}"/>
              </a:ext>
            </a:extLst>
          </p:cNvPr>
          <p:cNvSpPr/>
          <p:nvPr/>
        </p:nvSpPr>
        <p:spPr>
          <a:xfrm>
            <a:off x="4134439" y="1480312"/>
            <a:ext cx="22640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3A70"/>
                </a:solidFill>
              </a:rPr>
              <a:t>Tiempo de vida</a:t>
            </a:r>
            <a:endParaRPr lang="en-US" sz="132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CD52F8AF-F246-459F-8AC9-9D3E39209421}"/>
              </a:ext>
            </a:extLst>
          </p:cNvPr>
          <p:cNvSpPr/>
          <p:nvPr/>
        </p:nvSpPr>
        <p:spPr>
          <a:xfrm>
            <a:off x="4134439" y="1818640"/>
            <a:ext cx="2264039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11827"/>
                </a:solidFill>
              </a:rPr>
              <a:t>El proyectil desaparece después de cierto tiempo aunque siga rebotando.</a:t>
            </a:r>
            <a:endParaRPr lang="en-US" sz="1210" dirty="0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2F072820-7C14-486C-85C0-FA9B8D418AD7}"/>
              </a:ext>
            </a:extLst>
          </p:cNvPr>
          <p:cNvSpPr/>
          <p:nvPr/>
        </p:nvSpPr>
        <p:spPr>
          <a:xfrm>
            <a:off x="6628719" y="1361440"/>
            <a:ext cx="2174501" cy="1325880"/>
          </a:xfrm>
          <a:prstGeom prst="roundRect">
            <a:avLst>
              <a:gd name="adj" fmla="val 5517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C13136E4-9C19-4D70-8469-19259EEF9C7A}"/>
              </a:ext>
            </a:extLst>
          </p:cNvPr>
          <p:cNvSpPr/>
          <p:nvPr/>
        </p:nvSpPr>
        <p:spPr>
          <a:xfrm>
            <a:off x="6793311" y="1480312"/>
            <a:ext cx="19442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8D57"/>
                </a:solidFill>
              </a:rPr>
              <a:t>Umbral de velocidad</a:t>
            </a:r>
            <a:endParaRPr lang="en-US" sz="1320" dirty="0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A4C0BE77-D301-43A6-91FA-FD2928D9FE86}"/>
              </a:ext>
            </a:extLst>
          </p:cNvPr>
          <p:cNvSpPr/>
          <p:nvPr/>
        </p:nvSpPr>
        <p:spPr>
          <a:xfrm>
            <a:off x="6793311" y="1818640"/>
            <a:ext cx="1944259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11827"/>
                </a:solidFill>
              </a:rPr>
              <a:t>Si la velocidad baja demasiado, el proyectil puede detenerse o eliminarse.</a:t>
            </a:r>
            <a:endParaRPr lang="en-US" sz="1210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98C0A8B8-9C52-4AB1-B9DF-EDA9C6FA663D}"/>
              </a:ext>
            </a:extLst>
          </p:cNvPr>
          <p:cNvSpPr/>
          <p:nvPr/>
        </p:nvSpPr>
        <p:spPr>
          <a:xfrm>
            <a:off x="1475567" y="3219035"/>
            <a:ext cx="70597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F1D7A"/>
                </a:solidFill>
              </a:rPr>
              <a:t>Ejemplo de regla de diseño:</a:t>
            </a:r>
            <a:endParaRPr lang="en-US" sz="2000" dirty="0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E201919C-22A1-4788-AC91-9B5D024ACAAA}"/>
              </a:ext>
            </a:extLst>
          </p:cNvPr>
          <p:cNvSpPr/>
          <p:nvPr/>
        </p:nvSpPr>
        <p:spPr>
          <a:xfrm>
            <a:off x="1475567" y="3721955"/>
            <a:ext cx="718583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11827"/>
                </a:solidFill>
              </a:rPr>
              <a:t>“La bala puede rebotar máximo 3 veces; luego desaparece para evitar comportamientos inesperados.”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64632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" y="0"/>
            <a:ext cx="826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sldNum" idx="12"/>
          </p:nvPr>
        </p:nvSpPr>
        <p:spPr>
          <a:xfrm>
            <a:off x="88149" y="233150"/>
            <a:ext cx="607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0</a:t>
            </a:r>
            <a:fld id="{00000000-1234-1234-1234-123412341234}" type="slidenum"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16</a:t>
            </a:fld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/20</a:t>
            </a:r>
            <a:endParaRPr sz="1400" b="1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1310975" y="690025"/>
            <a:ext cx="3789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0000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1" dirty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|</a:t>
            </a:r>
            <a:r>
              <a:rPr lang="es-MX" sz="2000" b="1" dirty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Validación matemática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52571825-5CC9-4898-84E4-42E264A53EEA}"/>
              </a:ext>
            </a:extLst>
          </p:cNvPr>
          <p:cNvSpPr/>
          <p:nvPr/>
        </p:nvSpPr>
        <p:spPr>
          <a:xfrm>
            <a:off x="1448308" y="1083625"/>
            <a:ext cx="7454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¿Cómo sabemos que el rebote está bien implementado?</a:t>
            </a:r>
            <a:endParaRPr lang="en-US" sz="1350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5A1D5E9-0531-408F-A4DB-DB2ABB9741BA}"/>
              </a:ext>
            </a:extLst>
          </p:cNvPr>
          <p:cNvSpPr txBox="1"/>
          <p:nvPr/>
        </p:nvSpPr>
        <p:spPr>
          <a:xfrm>
            <a:off x="1448308" y="1788121"/>
            <a:ext cx="51435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11827"/>
                </a:solidFill>
              </a:rPr>
              <a:t>Pared vertical: la </a:t>
            </a:r>
            <a:r>
              <a:rPr lang="en-US" sz="1400" dirty="0" err="1">
                <a:solidFill>
                  <a:srgbClr val="111827"/>
                </a:solidFill>
              </a:rPr>
              <a:t>componente</a:t>
            </a:r>
            <a:r>
              <a:rPr lang="en-US" sz="1400" dirty="0">
                <a:solidFill>
                  <a:srgbClr val="111827"/>
                </a:solidFill>
              </a:rPr>
              <a:t> horizontal debe </a:t>
            </a:r>
            <a:r>
              <a:rPr lang="en-US" sz="1400" dirty="0" err="1">
                <a:solidFill>
                  <a:srgbClr val="111827"/>
                </a:solidFill>
              </a:rPr>
              <a:t>cambiar</a:t>
            </a:r>
            <a:r>
              <a:rPr lang="en-US" sz="1400" dirty="0">
                <a:solidFill>
                  <a:srgbClr val="111827"/>
                </a:solidFill>
              </a:rPr>
              <a:t> de </a:t>
            </a:r>
            <a:r>
              <a:rPr lang="en-US" sz="1400" dirty="0" err="1">
                <a:solidFill>
                  <a:srgbClr val="111827"/>
                </a:solidFill>
              </a:rPr>
              <a:t>signo</a:t>
            </a:r>
            <a:r>
              <a:rPr lang="en-US" sz="1400" dirty="0">
                <a:solidFill>
                  <a:srgbClr val="111827"/>
                </a:solidFill>
              </a:rPr>
              <a:t>.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 err="1">
                <a:solidFill>
                  <a:srgbClr val="111827"/>
                </a:solidFill>
              </a:rPr>
              <a:t>Piso</a:t>
            </a:r>
            <a:r>
              <a:rPr lang="en-US" sz="1400" dirty="0">
                <a:solidFill>
                  <a:srgbClr val="111827"/>
                </a:solidFill>
              </a:rPr>
              <a:t> o </a:t>
            </a:r>
            <a:r>
              <a:rPr lang="en-US" sz="1400" dirty="0" err="1">
                <a:solidFill>
                  <a:srgbClr val="111827"/>
                </a:solidFill>
              </a:rPr>
              <a:t>techo</a:t>
            </a:r>
            <a:r>
              <a:rPr lang="en-US" sz="1400" dirty="0">
                <a:solidFill>
                  <a:srgbClr val="111827"/>
                </a:solidFill>
              </a:rPr>
              <a:t>: la </a:t>
            </a:r>
            <a:r>
              <a:rPr lang="en-US" sz="1400" dirty="0" err="1">
                <a:solidFill>
                  <a:srgbClr val="111827"/>
                </a:solidFill>
              </a:rPr>
              <a:t>componente</a:t>
            </a:r>
            <a:r>
              <a:rPr lang="en-US" sz="1400" dirty="0">
                <a:solidFill>
                  <a:srgbClr val="111827"/>
                </a:solidFill>
              </a:rPr>
              <a:t> vertical debe </a:t>
            </a:r>
            <a:r>
              <a:rPr lang="en-US" sz="1400" dirty="0" err="1">
                <a:solidFill>
                  <a:srgbClr val="111827"/>
                </a:solidFill>
              </a:rPr>
              <a:t>cambiar</a:t>
            </a:r>
            <a:r>
              <a:rPr lang="en-US" sz="1400" dirty="0">
                <a:solidFill>
                  <a:srgbClr val="111827"/>
                </a:solidFill>
              </a:rPr>
              <a:t> de </a:t>
            </a:r>
            <a:r>
              <a:rPr lang="en-US" sz="1400" dirty="0" err="1">
                <a:solidFill>
                  <a:srgbClr val="111827"/>
                </a:solidFill>
              </a:rPr>
              <a:t>signo</a:t>
            </a:r>
            <a:r>
              <a:rPr lang="en-US" sz="1400" dirty="0">
                <a:solidFill>
                  <a:srgbClr val="111827"/>
                </a:solidFill>
              </a:rPr>
              <a:t>.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11827"/>
                </a:solidFill>
              </a:rPr>
              <a:t>La </a:t>
            </a:r>
            <a:r>
              <a:rPr lang="en-US" sz="1400" dirty="0" err="1">
                <a:solidFill>
                  <a:srgbClr val="111827"/>
                </a:solidFill>
              </a:rPr>
              <a:t>rapidez</a:t>
            </a:r>
            <a:r>
              <a:rPr lang="en-US" sz="1400" dirty="0">
                <a:solidFill>
                  <a:srgbClr val="111827"/>
                </a:solidFill>
              </a:rPr>
              <a:t> se </a:t>
            </a:r>
            <a:r>
              <a:rPr lang="en-US" sz="1400" dirty="0" err="1">
                <a:solidFill>
                  <a:srgbClr val="111827"/>
                </a:solidFill>
              </a:rPr>
              <a:t>mantiene</a:t>
            </a:r>
            <a:r>
              <a:rPr lang="en-US" sz="1400" dirty="0">
                <a:solidFill>
                  <a:srgbClr val="111827"/>
                </a:solidFill>
              </a:rPr>
              <a:t> </a:t>
            </a:r>
            <a:r>
              <a:rPr lang="en-US" sz="1400" dirty="0" err="1">
                <a:solidFill>
                  <a:srgbClr val="111827"/>
                </a:solidFill>
              </a:rPr>
              <a:t>si</a:t>
            </a:r>
            <a:r>
              <a:rPr lang="en-US" sz="1400" dirty="0">
                <a:solidFill>
                  <a:srgbClr val="111827"/>
                </a:solidFill>
              </a:rPr>
              <a:t> </a:t>
            </a:r>
            <a:r>
              <a:rPr lang="en-US" sz="1400" dirty="0" err="1">
                <a:solidFill>
                  <a:srgbClr val="111827"/>
                </a:solidFill>
              </a:rPr>
              <a:t>el</a:t>
            </a:r>
            <a:r>
              <a:rPr lang="en-US" sz="1400" dirty="0">
                <a:solidFill>
                  <a:srgbClr val="111827"/>
                </a:solidFill>
              </a:rPr>
              <a:t> </a:t>
            </a:r>
            <a:r>
              <a:rPr lang="en-US" sz="1400" dirty="0" err="1">
                <a:solidFill>
                  <a:srgbClr val="111827"/>
                </a:solidFill>
              </a:rPr>
              <a:t>rebote</a:t>
            </a:r>
            <a:r>
              <a:rPr lang="en-US" sz="1400" dirty="0">
                <a:solidFill>
                  <a:srgbClr val="111827"/>
                </a:solidFill>
              </a:rPr>
              <a:t> es ideal.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 err="1">
                <a:solidFill>
                  <a:srgbClr val="111827"/>
                </a:solidFill>
              </a:rPr>
              <a:t>Probar</a:t>
            </a:r>
            <a:r>
              <a:rPr lang="en-US" sz="1400" dirty="0">
                <a:solidFill>
                  <a:srgbClr val="111827"/>
                </a:solidFill>
              </a:rPr>
              <a:t> </a:t>
            </a:r>
            <a:r>
              <a:rPr lang="en-US" sz="1400" dirty="0" err="1">
                <a:solidFill>
                  <a:srgbClr val="111827"/>
                </a:solidFill>
              </a:rPr>
              <a:t>ángulos</a:t>
            </a:r>
            <a:r>
              <a:rPr lang="en-US" sz="1400" dirty="0">
                <a:solidFill>
                  <a:srgbClr val="111827"/>
                </a:solidFill>
              </a:rPr>
              <a:t> </a:t>
            </a:r>
            <a:r>
              <a:rPr lang="en-US" sz="1400" dirty="0" err="1">
                <a:solidFill>
                  <a:srgbClr val="111827"/>
                </a:solidFill>
              </a:rPr>
              <a:t>extremos</a:t>
            </a:r>
            <a:r>
              <a:rPr lang="en-US" sz="1400" dirty="0">
                <a:solidFill>
                  <a:srgbClr val="111827"/>
                </a:solidFill>
              </a:rPr>
              <a:t>: </a:t>
            </a:r>
            <a:r>
              <a:rPr lang="en-US" sz="1400" dirty="0" err="1">
                <a:solidFill>
                  <a:srgbClr val="111827"/>
                </a:solidFill>
              </a:rPr>
              <a:t>casi</a:t>
            </a:r>
            <a:r>
              <a:rPr lang="en-US" sz="1400" dirty="0">
                <a:solidFill>
                  <a:srgbClr val="111827"/>
                </a:solidFill>
              </a:rPr>
              <a:t> </a:t>
            </a:r>
            <a:r>
              <a:rPr lang="en-US" sz="1400" dirty="0" err="1">
                <a:solidFill>
                  <a:srgbClr val="111827"/>
                </a:solidFill>
              </a:rPr>
              <a:t>paralelo</a:t>
            </a:r>
            <a:r>
              <a:rPr lang="en-US" sz="1400" dirty="0">
                <a:solidFill>
                  <a:srgbClr val="111827"/>
                </a:solidFill>
              </a:rPr>
              <a:t> y </a:t>
            </a:r>
            <a:r>
              <a:rPr lang="en-US" sz="1400" dirty="0" err="1">
                <a:solidFill>
                  <a:srgbClr val="111827"/>
                </a:solidFill>
              </a:rPr>
              <a:t>casi</a:t>
            </a:r>
            <a:r>
              <a:rPr lang="en-US" sz="1400" dirty="0">
                <a:solidFill>
                  <a:srgbClr val="111827"/>
                </a:solidFill>
              </a:rPr>
              <a:t> perpendicular.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111827"/>
                </a:solidFill>
              </a:rPr>
              <a:t>Registrar </a:t>
            </a:r>
            <a:r>
              <a:rPr lang="en-US" sz="1400" dirty="0" err="1">
                <a:solidFill>
                  <a:srgbClr val="111827"/>
                </a:solidFill>
              </a:rPr>
              <a:t>número</a:t>
            </a:r>
            <a:r>
              <a:rPr lang="en-US" sz="1400" dirty="0">
                <a:solidFill>
                  <a:srgbClr val="111827"/>
                </a:solidFill>
              </a:rPr>
              <a:t> de </a:t>
            </a:r>
            <a:r>
              <a:rPr lang="en-US" sz="1400" dirty="0" err="1">
                <a:solidFill>
                  <a:srgbClr val="111827"/>
                </a:solidFill>
              </a:rPr>
              <a:t>rebotes</a:t>
            </a:r>
            <a:r>
              <a:rPr lang="en-US" sz="1400" dirty="0">
                <a:solidFill>
                  <a:srgbClr val="111827"/>
                </a:solidFill>
              </a:rPr>
              <a:t> y </a:t>
            </a:r>
            <a:r>
              <a:rPr lang="en-US" sz="1400" dirty="0" err="1">
                <a:solidFill>
                  <a:srgbClr val="111827"/>
                </a:solidFill>
              </a:rPr>
              <a:t>posición</a:t>
            </a:r>
            <a:r>
              <a:rPr lang="en-US" sz="1400" dirty="0">
                <a:solidFill>
                  <a:srgbClr val="111827"/>
                </a:solidFill>
              </a:rPr>
              <a:t> de </a:t>
            </a:r>
            <a:r>
              <a:rPr lang="en-US" sz="1400" dirty="0" err="1">
                <a:solidFill>
                  <a:srgbClr val="111827"/>
                </a:solidFill>
              </a:rPr>
              <a:t>impacto</a:t>
            </a:r>
            <a:r>
              <a:rPr lang="en-US" sz="1400" dirty="0">
                <a:solidFill>
                  <a:srgbClr val="111827"/>
                </a:solidFill>
              </a:rPr>
              <a:t>.</a:t>
            </a:r>
            <a:endParaRPr lang="en-US" sz="1400" dirty="0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C1FF454F-883D-4C69-9CC7-990ACF11A284}"/>
              </a:ext>
            </a:extLst>
          </p:cNvPr>
          <p:cNvSpPr/>
          <p:nvPr/>
        </p:nvSpPr>
        <p:spPr>
          <a:xfrm>
            <a:off x="6653022" y="1083625"/>
            <a:ext cx="2085340" cy="1828800"/>
          </a:xfrm>
          <a:prstGeom prst="roundRect">
            <a:avLst>
              <a:gd name="adj" fmla="val 4000"/>
            </a:avLst>
          </a:prstGeom>
          <a:solidFill>
            <a:srgbClr val="F3E8FF"/>
          </a:solidFill>
          <a:ln w="12700">
            <a:solidFill>
              <a:srgbClr val="7F1D7A"/>
            </a:solidFill>
            <a:prstDash val="solid"/>
          </a:ln>
        </p:spPr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BC5AD6D2-29C4-402D-B0F2-103FC0AEFC56}"/>
              </a:ext>
            </a:extLst>
          </p:cNvPr>
          <p:cNvSpPr/>
          <p:nvPr/>
        </p:nvSpPr>
        <p:spPr>
          <a:xfrm>
            <a:off x="6817614" y="1202497"/>
            <a:ext cx="190659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7F1D7A"/>
                </a:solidFill>
              </a:rPr>
              <a:t>Pregunta de verificación</a:t>
            </a:r>
            <a:endParaRPr lang="en-US" sz="1320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093F93E4-DE11-4EFC-B048-D1B953C99D66}"/>
              </a:ext>
            </a:extLst>
          </p:cNvPr>
          <p:cNvSpPr/>
          <p:nvPr/>
        </p:nvSpPr>
        <p:spPr>
          <a:xfrm>
            <a:off x="6817614" y="1540825"/>
            <a:ext cx="1906597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11827"/>
                </a:solidFill>
              </a:rPr>
              <a:t>¿La trayectoria que veo coincide con la trayectoria que predice la geometría?</a:t>
            </a:r>
            <a:endParaRPr lang="en-US" sz="1210" dirty="0"/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973465E7-128B-4AFB-A633-D34FD7ABE169}"/>
              </a:ext>
            </a:extLst>
          </p:cNvPr>
          <p:cNvSpPr/>
          <p:nvPr/>
        </p:nvSpPr>
        <p:spPr>
          <a:xfrm>
            <a:off x="4025900" y="4076128"/>
            <a:ext cx="2851912" cy="502920"/>
          </a:xfrm>
          <a:prstGeom prst="roundRect">
            <a:avLst>
              <a:gd name="adj" fmla="val 14545"/>
            </a:avLst>
          </a:prstGeom>
          <a:solidFill>
            <a:srgbClr val="7F1D7A"/>
          </a:solidFill>
          <a:ln w="12700">
            <a:solidFill>
              <a:srgbClr val="7F1D7A"/>
            </a:solidFill>
            <a:prstDash val="solid"/>
          </a:ln>
        </p:spPr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733BB169-3F2B-4BA3-8FC3-2E3F8CE86A93}"/>
              </a:ext>
            </a:extLst>
          </p:cNvPr>
          <p:cNvSpPr/>
          <p:nvPr/>
        </p:nvSpPr>
        <p:spPr>
          <a:xfrm>
            <a:off x="4025900" y="4185855"/>
            <a:ext cx="2796147" cy="213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Matemática ↔ Observación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890617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" y="0"/>
            <a:ext cx="826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sldNum" idx="12"/>
          </p:nvPr>
        </p:nvSpPr>
        <p:spPr>
          <a:xfrm>
            <a:off x="88149" y="233150"/>
            <a:ext cx="607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0</a:t>
            </a:r>
            <a:fld id="{00000000-1234-1234-1234-123412341234}" type="slidenum"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17</a:t>
            </a:fld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/20</a:t>
            </a:r>
            <a:endParaRPr sz="1400" b="1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1310975" y="690025"/>
            <a:ext cx="3789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0000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1" dirty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|</a:t>
            </a:r>
            <a:r>
              <a:rPr lang="es-MX" sz="2000" b="1" dirty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Errores comunes al trabajar rebotes</a:t>
            </a: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11C91493-20B4-4642-ACF4-73D2494F2083}"/>
              </a:ext>
            </a:extLst>
          </p:cNvPr>
          <p:cNvSpPr/>
          <p:nvPr/>
        </p:nvSpPr>
        <p:spPr>
          <a:xfrm>
            <a:off x="1600200" y="1233170"/>
            <a:ext cx="3298698" cy="1005840"/>
          </a:xfrm>
          <a:prstGeom prst="roundRect">
            <a:avLst>
              <a:gd name="adj" fmla="val 7273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7BE0DF95-2C1F-44DA-B909-FD83CDA2E1FB}"/>
              </a:ext>
            </a:extLst>
          </p:cNvPr>
          <p:cNvSpPr/>
          <p:nvPr/>
        </p:nvSpPr>
        <p:spPr>
          <a:xfrm>
            <a:off x="1764792" y="1352042"/>
            <a:ext cx="30957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B91C1C"/>
                </a:solidFill>
              </a:rPr>
              <a:t>1. Medir el ángulo contra la pared</a:t>
            </a:r>
            <a:endParaRPr lang="en-US" sz="132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49FA54D9-AC6D-487B-81D4-4EF418443DDE}"/>
              </a:ext>
            </a:extLst>
          </p:cNvPr>
          <p:cNvSpPr/>
          <p:nvPr/>
        </p:nvSpPr>
        <p:spPr>
          <a:xfrm>
            <a:off x="1764792" y="1690370"/>
            <a:ext cx="3095701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11827"/>
                </a:solidFill>
              </a:rPr>
              <a:t>Los ángulos de incidencia y reflexión se interpretan respecto a la normal.</a:t>
            </a:r>
            <a:endParaRPr lang="en-US" sz="121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E304BE6C-6C54-4481-A934-BE8F8E0FA91F}"/>
              </a:ext>
            </a:extLst>
          </p:cNvPr>
          <p:cNvSpPr/>
          <p:nvPr/>
        </p:nvSpPr>
        <p:spPr>
          <a:xfrm>
            <a:off x="5063490" y="1233170"/>
            <a:ext cx="3242310" cy="1005840"/>
          </a:xfrm>
          <a:prstGeom prst="roundRect">
            <a:avLst>
              <a:gd name="adj" fmla="val 7273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CFDBCF3D-C88F-4897-9FAD-ABD8E8CF052F}"/>
              </a:ext>
            </a:extLst>
          </p:cNvPr>
          <p:cNvSpPr/>
          <p:nvPr/>
        </p:nvSpPr>
        <p:spPr>
          <a:xfrm>
            <a:off x="5228082" y="1352042"/>
            <a:ext cx="303931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B91C1C"/>
                </a:solidFill>
              </a:rPr>
              <a:t>2. Usar una normal incorrecta</a:t>
            </a:r>
            <a:endParaRPr lang="en-US" sz="132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BC73E064-BC8B-47AB-9FAB-CB2445DE6A65}"/>
              </a:ext>
            </a:extLst>
          </p:cNvPr>
          <p:cNvSpPr/>
          <p:nvPr/>
        </p:nvSpPr>
        <p:spPr>
          <a:xfrm>
            <a:off x="5228082" y="1690370"/>
            <a:ext cx="3039313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11827"/>
                </a:solidFill>
              </a:rPr>
              <a:t>Si la normal no representa la superficie real, el rebote saldrá en dirección incoherente.</a:t>
            </a:r>
            <a:endParaRPr lang="en-US" sz="121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47740A39-92AC-427D-8307-34AC1AF59575}"/>
              </a:ext>
            </a:extLst>
          </p:cNvPr>
          <p:cNvSpPr/>
          <p:nvPr/>
        </p:nvSpPr>
        <p:spPr>
          <a:xfrm>
            <a:off x="1600200" y="2604770"/>
            <a:ext cx="3298698" cy="1005840"/>
          </a:xfrm>
          <a:prstGeom prst="roundRect">
            <a:avLst>
              <a:gd name="adj" fmla="val 7273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91941866-A845-4585-9336-74CDE78B5F9E}"/>
              </a:ext>
            </a:extLst>
          </p:cNvPr>
          <p:cNvSpPr/>
          <p:nvPr/>
        </p:nvSpPr>
        <p:spPr>
          <a:xfrm>
            <a:off x="1764792" y="2723642"/>
            <a:ext cx="30957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D97706"/>
                </a:solidFill>
              </a:rPr>
              <a:t>3. No normalizar direcciones</a:t>
            </a:r>
            <a:endParaRPr lang="en-US" sz="132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23C32C8A-F81F-4691-BFB1-857531AED343}"/>
              </a:ext>
            </a:extLst>
          </p:cNvPr>
          <p:cNvSpPr/>
          <p:nvPr/>
        </p:nvSpPr>
        <p:spPr>
          <a:xfrm>
            <a:off x="1764792" y="3061970"/>
            <a:ext cx="3095701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11827"/>
                </a:solidFill>
              </a:rPr>
              <a:t>Puede alterar la velocidad o producir movimientos inconsistentes.</a:t>
            </a:r>
            <a:endParaRPr lang="en-US" sz="121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DAE10B60-15D0-4991-B3FD-126FD0B4AA44}"/>
              </a:ext>
            </a:extLst>
          </p:cNvPr>
          <p:cNvSpPr/>
          <p:nvPr/>
        </p:nvSpPr>
        <p:spPr>
          <a:xfrm>
            <a:off x="5063490" y="2604770"/>
            <a:ext cx="3242310" cy="1005840"/>
          </a:xfrm>
          <a:prstGeom prst="roundRect">
            <a:avLst>
              <a:gd name="adj" fmla="val 7273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B2E79DFE-D764-47F1-B693-357C2411F455}"/>
              </a:ext>
            </a:extLst>
          </p:cNvPr>
          <p:cNvSpPr/>
          <p:nvPr/>
        </p:nvSpPr>
        <p:spPr>
          <a:xfrm>
            <a:off x="5228082" y="2723642"/>
            <a:ext cx="303931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D97706"/>
                </a:solidFill>
              </a:rPr>
              <a:t>4. No limitar rebotes</a:t>
            </a:r>
            <a:endParaRPr lang="en-US" sz="132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B78C48B2-ABE3-45BA-BA42-100261AE9B73}"/>
              </a:ext>
            </a:extLst>
          </p:cNvPr>
          <p:cNvSpPr/>
          <p:nvPr/>
        </p:nvSpPr>
        <p:spPr>
          <a:xfrm>
            <a:off x="5228082" y="3061970"/>
            <a:ext cx="3039313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11827"/>
                </a:solidFill>
              </a:rPr>
              <a:t>El proyectil puede quedarse rebotando indefinidamente.</a:t>
            </a:r>
            <a:endParaRPr lang="en-US" sz="1210" dirty="0"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E31ACD67-2A5B-46D7-8FB1-0A89B58CC19F}"/>
              </a:ext>
            </a:extLst>
          </p:cNvPr>
          <p:cNvSpPr/>
          <p:nvPr/>
        </p:nvSpPr>
        <p:spPr>
          <a:xfrm>
            <a:off x="1585417" y="3910330"/>
            <a:ext cx="6681978" cy="1005840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A46A56B7-3FB8-40ED-AF53-1BCCDC7B65E1}"/>
              </a:ext>
            </a:extLst>
          </p:cNvPr>
          <p:cNvSpPr/>
          <p:nvPr/>
        </p:nvSpPr>
        <p:spPr>
          <a:xfrm>
            <a:off x="1750009" y="4029202"/>
            <a:ext cx="647898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D97706"/>
                </a:solidFill>
              </a:rPr>
              <a:t>5. No validar casos límite</a:t>
            </a:r>
            <a:endParaRPr lang="en-US" sz="132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DC7BC544-825E-4335-8508-834BD9327E67}"/>
              </a:ext>
            </a:extLst>
          </p:cNvPr>
          <p:cNvSpPr/>
          <p:nvPr/>
        </p:nvSpPr>
        <p:spPr>
          <a:xfrm>
            <a:off x="1750009" y="4367530"/>
            <a:ext cx="6478981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11827"/>
                </a:solidFill>
              </a:rPr>
              <a:t>Ángulos muy pequeños o colisiones cerca de esquinas pueden revelar errores.</a:t>
            </a:r>
            <a:endParaRPr lang="en-US" sz="1210" dirty="0"/>
          </a:p>
        </p:txBody>
      </p:sp>
    </p:spTree>
    <p:extLst>
      <p:ext uri="{BB962C8B-B14F-4D97-AF65-F5344CB8AC3E}">
        <p14:creationId xmlns:p14="http://schemas.microsoft.com/office/powerpoint/2010/main" val="1609293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" y="0"/>
            <a:ext cx="826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sldNum" idx="12"/>
          </p:nvPr>
        </p:nvSpPr>
        <p:spPr>
          <a:xfrm>
            <a:off x="88149" y="233150"/>
            <a:ext cx="607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0</a:t>
            </a:r>
            <a:fld id="{00000000-1234-1234-1234-123412341234}" type="slidenum"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18</a:t>
            </a:fld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/20</a:t>
            </a:r>
            <a:endParaRPr sz="1400" b="1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1310975" y="690025"/>
            <a:ext cx="3789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0000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1" dirty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|</a:t>
            </a:r>
            <a:r>
              <a:rPr lang="es-419" sz="2000" b="1" dirty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mini reto</a:t>
            </a: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13C2B5C2-ACB5-4941-95CE-47B916834941}"/>
              </a:ext>
            </a:extLst>
          </p:cNvPr>
          <p:cNvSpPr/>
          <p:nvPr/>
        </p:nvSpPr>
        <p:spPr>
          <a:xfrm>
            <a:off x="1534160" y="1592580"/>
            <a:ext cx="939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F1D7A"/>
                </a:solidFill>
              </a:rPr>
              <a:t>Reto:</a:t>
            </a:r>
            <a:endParaRPr lang="en-US" sz="22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64C5DA71-9BE9-4C7C-9627-328E979A33C1}"/>
              </a:ext>
            </a:extLst>
          </p:cNvPr>
          <p:cNvSpPr/>
          <p:nvPr/>
        </p:nvSpPr>
        <p:spPr>
          <a:xfrm>
            <a:off x="2768600" y="1546860"/>
            <a:ext cx="54800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11827"/>
                </a:solidFill>
              </a:rPr>
              <a:t>Configura un proyectil que rebote hasta 3 veces y luego desaparezca. Debes explicar qué ocurre con la dirección del proyectil en cada impacto.</a:t>
            </a:r>
            <a:endParaRPr lang="en-US" dirty="0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6AD9B806-CA0A-4D6C-A587-F464CD3CE734}"/>
              </a:ext>
            </a:extLst>
          </p:cNvPr>
          <p:cNvSpPr/>
          <p:nvPr/>
        </p:nvSpPr>
        <p:spPr>
          <a:xfrm>
            <a:off x="2308860" y="2671572"/>
            <a:ext cx="26187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CABE454D-4C7F-4B05-B38D-610ECC6D0F80}"/>
              </a:ext>
            </a:extLst>
          </p:cNvPr>
          <p:cNvSpPr/>
          <p:nvPr/>
        </p:nvSpPr>
        <p:spPr>
          <a:xfrm>
            <a:off x="2473452" y="2790444"/>
            <a:ext cx="24441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3A70"/>
                </a:solidFill>
              </a:rPr>
              <a:t>Condiciones mínimas</a:t>
            </a:r>
            <a:endParaRPr lang="en-US" sz="1320" dirty="0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841595C6-80D9-4736-969E-A8988E6DCF39}"/>
              </a:ext>
            </a:extLst>
          </p:cNvPr>
          <p:cNvSpPr/>
          <p:nvPr/>
        </p:nvSpPr>
        <p:spPr>
          <a:xfrm>
            <a:off x="2473452" y="3128772"/>
            <a:ext cx="2444157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10" dirty="0" err="1">
                <a:solidFill>
                  <a:srgbClr val="111827"/>
                </a:solidFill>
              </a:rPr>
              <a:t>Rebote</a:t>
            </a:r>
            <a:r>
              <a:rPr lang="en-US" sz="1210" dirty="0">
                <a:solidFill>
                  <a:srgbClr val="111827"/>
                </a:solidFill>
              </a:rPr>
              <a:t> visible.</a:t>
            </a:r>
            <a:endParaRPr lang="en-US" sz="121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10" dirty="0" err="1">
                <a:solidFill>
                  <a:srgbClr val="111827"/>
                </a:solidFill>
              </a:rPr>
              <a:t>Uso</a:t>
            </a:r>
            <a:r>
              <a:rPr lang="en-US" sz="1210" dirty="0">
                <a:solidFill>
                  <a:srgbClr val="111827"/>
                </a:solidFill>
              </a:rPr>
              <a:t> de normal o función equivalente.</a:t>
            </a:r>
            <a:endParaRPr lang="en-US" sz="121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10" dirty="0" err="1">
                <a:solidFill>
                  <a:srgbClr val="111827"/>
                </a:solidFill>
              </a:rPr>
              <a:t>Límite</a:t>
            </a:r>
            <a:r>
              <a:rPr lang="en-US" sz="1210" dirty="0">
                <a:solidFill>
                  <a:srgbClr val="111827"/>
                </a:solidFill>
              </a:rPr>
              <a:t> de rebotes.</a:t>
            </a:r>
            <a:endParaRPr lang="en-US" sz="121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10" dirty="0" err="1">
                <a:solidFill>
                  <a:srgbClr val="111827"/>
                </a:solidFill>
              </a:rPr>
              <a:t>Explicación</a:t>
            </a:r>
            <a:r>
              <a:rPr lang="en-US" sz="1210" dirty="0">
                <a:solidFill>
                  <a:srgbClr val="111827"/>
                </a:solidFill>
              </a:rPr>
              <a:t> matemática del cambio de dirección.</a:t>
            </a:r>
            <a:endParaRPr lang="en-US" sz="1210" dirty="0"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92A87341-CCF7-462B-B6CE-370A892970EF}"/>
              </a:ext>
            </a:extLst>
          </p:cNvPr>
          <p:cNvSpPr/>
          <p:nvPr/>
        </p:nvSpPr>
        <p:spPr>
          <a:xfrm>
            <a:off x="5712460" y="2671572"/>
            <a:ext cx="2618740" cy="2011680"/>
          </a:xfrm>
          <a:prstGeom prst="roundRect">
            <a:avLst>
              <a:gd name="adj" fmla="val 3636"/>
            </a:avLst>
          </a:prstGeom>
          <a:solidFill>
            <a:srgbClr val="F3E8FF"/>
          </a:solidFill>
          <a:ln w="12700">
            <a:solidFill>
              <a:srgbClr val="7F1D7A"/>
            </a:solidFill>
            <a:prstDash val="solid"/>
          </a:ln>
        </p:spPr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556CE948-BD2B-4BB9-B95B-F353B8F5AC87}"/>
              </a:ext>
            </a:extLst>
          </p:cNvPr>
          <p:cNvSpPr/>
          <p:nvPr/>
        </p:nvSpPr>
        <p:spPr>
          <a:xfrm>
            <a:off x="5877052" y="2790444"/>
            <a:ext cx="24441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7F1D7A"/>
                </a:solidFill>
              </a:rPr>
              <a:t>Pregunta final</a:t>
            </a:r>
            <a:endParaRPr lang="en-US" sz="1320" dirty="0"/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3A61B41A-6F3C-49D6-8406-E3AD41B04FD5}"/>
              </a:ext>
            </a:extLst>
          </p:cNvPr>
          <p:cNvSpPr/>
          <p:nvPr/>
        </p:nvSpPr>
        <p:spPr>
          <a:xfrm>
            <a:off x="5877052" y="3128772"/>
            <a:ext cx="2444157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11827"/>
                </a:solidFill>
              </a:rPr>
              <a:t>Si cambio la inclinación de la pared, ¿cómo debería cambiar el rebote?</a:t>
            </a:r>
            <a:endParaRPr lang="en-US" sz="1210" dirty="0"/>
          </a:p>
        </p:txBody>
      </p:sp>
    </p:spTree>
    <p:extLst>
      <p:ext uri="{BB962C8B-B14F-4D97-AF65-F5344CB8AC3E}">
        <p14:creationId xmlns:p14="http://schemas.microsoft.com/office/powerpoint/2010/main" val="1532723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2E8C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" y="0"/>
            <a:ext cx="826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8149" y="233150"/>
            <a:ext cx="607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0</a:t>
            </a:r>
            <a:fld id="{00000000-1234-1234-1234-123412341234}" type="slidenum"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19</a:t>
            </a:fld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/20</a:t>
            </a:r>
            <a:endParaRPr sz="1400" b="1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2365900" y="2290538"/>
            <a:ext cx="1034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0000" bIns="91425" anchor="ctr" anchorCtr="0">
            <a:no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000" b="1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04</a:t>
            </a:r>
            <a:endParaRPr sz="6000" b="1"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3667325" y="2606913"/>
            <a:ext cx="40005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¿Qué aprendimos hoy?</a:t>
            </a:r>
            <a:endParaRPr sz="13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3667325" y="2201188"/>
            <a:ext cx="40449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0000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200" b="1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Reflexión final</a:t>
            </a:r>
            <a:endParaRPr sz="4200" b="1"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83" name="Google Shape;83;p15"/>
          <p:cNvCxnSpPr/>
          <p:nvPr/>
        </p:nvCxnSpPr>
        <p:spPr>
          <a:xfrm>
            <a:off x="3505400" y="2255688"/>
            <a:ext cx="0" cy="5721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860804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32" title="UCAL.png"/>
          <p:cNvPicPr preferRelativeResize="0"/>
          <p:nvPr/>
        </p:nvPicPr>
        <p:blipFill rotWithShape="1">
          <a:blip r:embed="rId3">
            <a:alphaModFix/>
          </a:blip>
          <a:srcRect l="8922" t="24466" r="28243" b="11249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060" y="0"/>
            <a:ext cx="877092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2"/>
          <p:cNvSpPr txBox="1"/>
          <p:nvPr/>
        </p:nvSpPr>
        <p:spPr>
          <a:xfrm>
            <a:off x="1394300" y="3269450"/>
            <a:ext cx="27918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¡Y eso es todo por hoy!</a:t>
            </a:r>
            <a:endParaRPr sz="13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9" name="Google Shape;299;p32"/>
          <p:cNvSpPr txBox="1"/>
          <p:nvPr/>
        </p:nvSpPr>
        <p:spPr>
          <a:xfrm>
            <a:off x="1394300" y="3489050"/>
            <a:ext cx="49626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0000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Gracias por</a:t>
            </a:r>
            <a:endParaRPr sz="4200" b="1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tu atención</a:t>
            </a:r>
            <a:endParaRPr sz="4200" b="1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300" name="Google Shape;300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" y="0"/>
            <a:ext cx="826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2"/>
          <p:cNvSpPr txBox="1">
            <a:spLocks noGrp="1"/>
          </p:cNvSpPr>
          <p:nvPr>
            <p:ph type="sldNum" idx="12"/>
          </p:nvPr>
        </p:nvSpPr>
        <p:spPr>
          <a:xfrm>
            <a:off x="88149" y="233150"/>
            <a:ext cx="607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20</a:t>
            </a:fld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/20</a:t>
            </a:r>
            <a:endParaRPr sz="1400" b="1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30" title="UCAL.png"/>
          <p:cNvPicPr preferRelativeResize="0"/>
          <p:nvPr/>
        </p:nvPicPr>
        <p:blipFill rotWithShape="1">
          <a:blip r:embed="rId3">
            <a:alphaModFix/>
          </a:blip>
          <a:srcRect l="22989" t="15846" r="44793"/>
          <a:stretch/>
        </p:blipFill>
        <p:spPr>
          <a:xfrm>
            <a:off x="685800" y="-25"/>
            <a:ext cx="3581327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" y="0"/>
            <a:ext cx="826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0"/>
          <p:cNvSpPr txBox="1">
            <a:spLocks noGrp="1"/>
          </p:cNvSpPr>
          <p:nvPr>
            <p:ph type="sldNum" idx="12"/>
          </p:nvPr>
        </p:nvSpPr>
        <p:spPr>
          <a:xfrm>
            <a:off x="88149" y="233150"/>
            <a:ext cx="607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21</a:t>
            </a:fld>
            <a:r>
              <a:rPr lang="es" sz="14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/20</a:t>
            </a:r>
            <a:endParaRPr sz="1400" b="1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79" name="Google Shape;279;p30"/>
          <p:cNvSpPr txBox="1"/>
          <p:nvPr/>
        </p:nvSpPr>
        <p:spPr>
          <a:xfrm>
            <a:off x="5255375" y="1161400"/>
            <a:ext cx="13743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Mensaje de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0" name="Google Shape;280;p30"/>
          <p:cNvSpPr txBox="1"/>
          <p:nvPr/>
        </p:nvSpPr>
        <p:spPr>
          <a:xfrm>
            <a:off x="5255375" y="1359870"/>
            <a:ext cx="12402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0000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200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UCAL</a:t>
            </a:r>
            <a:endParaRPr sz="4200" b="1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81" name="Google Shape;281;p30"/>
          <p:cNvSpPr txBox="1"/>
          <p:nvPr/>
        </p:nvSpPr>
        <p:spPr>
          <a:xfrm>
            <a:off x="5303000" y="2161986"/>
            <a:ext cx="2383200" cy="18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Cada clase te acerca a una experiencia del mundo real.</a:t>
            </a:r>
            <a:endParaRPr sz="13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Desarrollas habilidades,</a:t>
            </a:r>
            <a:br>
              <a:rPr lang="e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solo conocimientos.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 cuando se aprende así, </a:t>
            </a:r>
            <a:r>
              <a:rPr lang="es" sz="13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 está listo para dejar huella desde el día uno.</a:t>
            </a:r>
            <a:endParaRPr sz="13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</TotalTime>
  <Words>886</Words>
  <Application>Microsoft Office PowerPoint</Application>
  <PresentationFormat>Presentación en pantalla (16:9)</PresentationFormat>
  <Paragraphs>134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6" baseType="lpstr">
      <vt:lpstr>Wingdings</vt:lpstr>
      <vt:lpstr>Arial</vt:lpstr>
      <vt:lpstr>Bebas Neue</vt:lpstr>
      <vt:lpstr>Helvetica Neue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Renzo Renato Barturén Huamán</cp:lastModifiedBy>
  <cp:revision>72</cp:revision>
  <dcterms:modified xsi:type="dcterms:W3CDTF">2026-06-01T23:46:43Z</dcterms:modified>
</cp:coreProperties>
</file>